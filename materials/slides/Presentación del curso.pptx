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al Bold" charset="1" panose="020B0704020202020204"/>
      <p:regular r:id="rId18"/>
    </p:embeddedFont>
    <p:embeddedFont>
      <p:font typeface="Arial" charset="1" panose="020B0604020202020204"/>
      <p:regular r:id="rId19"/>
    </p:embeddedFont>
    <p:embeddedFont>
      <p:font typeface="Arial Italics" charset="1" panose="020B0604020202090204"/>
      <p:regular r:id="rId21"/>
    </p:embeddedFont>
    <p:embeddedFont>
      <p:font typeface="Calibri (MS) Bold" charset="1" panose="020F070203040403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2" y="0"/>
            <a:ext cx="18283428" cy="10287000"/>
            <a:chOff x="0" y="0"/>
            <a:chExt cx="243779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538960" y="-2194560"/>
            <a:ext cx="6858000" cy="6858000"/>
            <a:chOff x="0" y="0"/>
            <a:chExt cx="9144000" cy="914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13877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468880" y="7132320"/>
            <a:ext cx="5486400" cy="5486400"/>
            <a:chOff x="0" y="0"/>
            <a:chExt cx="7315200" cy="731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3497580"/>
            <a:ext cx="15773400" cy="1371600"/>
            <a:chOff x="0" y="0"/>
            <a:chExt cx="210312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0312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INTRODUCCIÓN AL BI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440" y="4869180"/>
            <a:ext cx="15773400" cy="1993574"/>
            <a:chOff x="0" y="0"/>
            <a:chExt cx="21031200" cy="26580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2658098"/>
            </a:xfrm>
            <a:custGeom>
              <a:avLst/>
              <a:gdLst/>
              <a:ahLst/>
              <a:cxnLst/>
              <a:rect r="r" b="b" t="t" l="l"/>
              <a:pathLst>
                <a:path h="2658098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8098"/>
                  </a:lnTo>
                  <a:lnTo>
                    <a:pt x="0" y="26580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527" r="0" b="-7480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1031200" cy="2677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E8A33D"/>
                  </a:solidFill>
                  <a:latin typeface="Arial"/>
                  <a:ea typeface="Arial"/>
                  <a:cs typeface="Arial"/>
                  <a:sym typeface="Arial"/>
                </a:rPr>
                <a:t>Lina María Sepúlveda Cano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E8A33D"/>
                  </a:solidFill>
                  <a:latin typeface="Arial"/>
                  <a:ea typeface="Arial"/>
                  <a:cs typeface="Arial"/>
                  <a:sym typeface="Arial"/>
                </a:rPr>
                <a:t>Bloque 26 - Oficina 508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E8A33D"/>
                  </a:solidFill>
                  <a:latin typeface="Arial"/>
                  <a:ea typeface="Arial"/>
                  <a:cs typeface="Arial"/>
                  <a:sym typeface="Arial"/>
                </a:rPr>
                <a:t>lmsepulvec@eafit.edu.co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4440" y="9189720"/>
            <a:ext cx="10972800" cy="548640"/>
            <a:chOff x="0" y="0"/>
            <a:chExt cx="146304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9FB3C8"/>
                  </a:solidFill>
                  <a:latin typeface="Arial"/>
                  <a:ea typeface="Arial"/>
                  <a:cs typeface="Arial"/>
                  <a:sym typeface="Arial"/>
                </a:rPr>
                <a:t>Universidad EAFIT — Segundo semestre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6322040" cy="1097280"/>
            <a:chOff x="0" y="0"/>
            <a:chExt cx="217627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627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¿Qué es Business Intelligence?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2880360"/>
            <a:ext cx="3771900" cy="4937760"/>
            <a:chOff x="0" y="0"/>
            <a:chExt cx="5029200" cy="6583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29200" cy="6583680"/>
            </a:xfrm>
            <a:custGeom>
              <a:avLst/>
              <a:gdLst/>
              <a:ahLst/>
              <a:cxnLst/>
              <a:rect r="r" b="b" t="t" l="l"/>
              <a:pathLst>
                <a:path h="658368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6364224"/>
                  </a:lnTo>
                  <a:cubicBezTo>
                    <a:pt x="5029200" y="6485382"/>
                    <a:pt x="4930902" y="6583680"/>
                    <a:pt x="4809744" y="6583680"/>
                  </a:cubicBezTo>
                  <a:lnTo>
                    <a:pt x="219456" y="6583680"/>
                  </a:lnTo>
                  <a:cubicBezTo>
                    <a:pt x="98298" y="6583680"/>
                    <a:pt x="0" y="6485382"/>
                    <a:pt x="0" y="6364224"/>
                  </a:cubicBezTo>
                  <a:close/>
                </a:path>
              </a:pathLst>
            </a:custGeom>
            <a:solidFill>
              <a:srgbClr val="F4F7F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60120" y="2880360"/>
            <a:ext cx="3771900" cy="754380"/>
            <a:chOff x="0" y="0"/>
            <a:chExt cx="502920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29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786384"/>
                  </a:lnTo>
                  <a:cubicBezTo>
                    <a:pt x="5029200" y="907542"/>
                    <a:pt x="4930902" y="1005840"/>
                    <a:pt x="4809744" y="1005840"/>
                  </a:cubicBezTo>
                  <a:lnTo>
                    <a:pt x="219456" y="1005840"/>
                  </a:lnTo>
                  <a:cubicBezTo>
                    <a:pt x="98298" y="1005840"/>
                    <a:pt x="0" y="907542"/>
                    <a:pt x="0" y="786384"/>
                  </a:cubicBezTo>
                  <a:close/>
                </a:path>
              </a:pathLst>
            </a:custGeom>
            <a:solidFill>
              <a:srgbClr val="13877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120" y="2880360"/>
            <a:ext cx="3771900" cy="754380"/>
            <a:chOff x="0" y="0"/>
            <a:chExt cx="5029200" cy="10058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29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502920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Datos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98448" y="3926205"/>
            <a:ext cx="3095244" cy="364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3D4C5C"/>
                </a:solidFill>
                <a:latin typeface="Arial"/>
                <a:ea typeface="Arial"/>
                <a:cs typeface="Arial"/>
                <a:sym typeface="Arial"/>
              </a:rPr>
              <a:t>Información cruda que generan los sistemas: reservas, pagos, clientes, facturas.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759452" y="4663440"/>
            <a:ext cx="329184" cy="685800"/>
            <a:chOff x="0" y="0"/>
            <a:chExt cx="438912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8912" cy="914400"/>
            </a:xfrm>
            <a:custGeom>
              <a:avLst/>
              <a:gdLst/>
              <a:ahLst/>
              <a:cxnLst/>
              <a:rect r="r" b="b" t="t" l="l"/>
              <a:pathLst>
                <a:path h="9144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7299" t="0" r="-217299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38912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3877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16068" y="2880360"/>
            <a:ext cx="3771900" cy="4937760"/>
            <a:chOff x="0" y="0"/>
            <a:chExt cx="5029200" cy="6583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29200" cy="6583680"/>
            </a:xfrm>
            <a:custGeom>
              <a:avLst/>
              <a:gdLst/>
              <a:ahLst/>
              <a:cxnLst/>
              <a:rect r="r" b="b" t="t" l="l"/>
              <a:pathLst>
                <a:path h="658368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6364224"/>
                  </a:lnTo>
                  <a:cubicBezTo>
                    <a:pt x="5029200" y="6485382"/>
                    <a:pt x="4930902" y="6583680"/>
                    <a:pt x="4809744" y="6583680"/>
                  </a:cubicBezTo>
                  <a:lnTo>
                    <a:pt x="219456" y="6583680"/>
                  </a:lnTo>
                  <a:cubicBezTo>
                    <a:pt x="98298" y="6583680"/>
                    <a:pt x="0" y="6485382"/>
                    <a:pt x="0" y="6364224"/>
                  </a:cubicBezTo>
                  <a:close/>
                </a:path>
              </a:pathLst>
            </a:custGeom>
            <a:solidFill>
              <a:srgbClr val="F4F7F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116068" y="2880360"/>
            <a:ext cx="3771900" cy="754380"/>
            <a:chOff x="0" y="0"/>
            <a:chExt cx="5029200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29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786384"/>
                  </a:lnTo>
                  <a:cubicBezTo>
                    <a:pt x="5029200" y="907542"/>
                    <a:pt x="4930902" y="1005840"/>
                    <a:pt x="4809744" y="1005840"/>
                  </a:cubicBezTo>
                  <a:lnTo>
                    <a:pt x="219456" y="1005840"/>
                  </a:lnTo>
                  <a:cubicBezTo>
                    <a:pt x="98298" y="1005840"/>
                    <a:pt x="0" y="907542"/>
                    <a:pt x="0" y="786384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116068" y="2880360"/>
            <a:ext cx="3771900" cy="754380"/>
            <a:chOff x="0" y="0"/>
            <a:chExt cx="5029200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29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02920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Procesamiento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454396" y="3926205"/>
            <a:ext cx="3095244" cy="364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3D4C5C"/>
                </a:solidFill>
                <a:latin typeface="Arial"/>
                <a:ea typeface="Arial"/>
                <a:cs typeface="Arial"/>
                <a:sym typeface="Arial"/>
              </a:rPr>
              <a:t>Consultas SQL, limpieza y transformación de los datos con Python.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915400" y="4663440"/>
            <a:ext cx="329184" cy="685800"/>
            <a:chOff x="0" y="0"/>
            <a:chExt cx="438912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8912" cy="914400"/>
            </a:xfrm>
            <a:custGeom>
              <a:avLst/>
              <a:gdLst/>
              <a:ahLst/>
              <a:cxnLst/>
              <a:rect r="r" b="b" t="t" l="l"/>
              <a:pathLst>
                <a:path h="9144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7299" t="0" r="-217299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38912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72016" y="2880360"/>
            <a:ext cx="3771900" cy="4937760"/>
            <a:chOff x="0" y="0"/>
            <a:chExt cx="5029200" cy="65836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29200" cy="6583680"/>
            </a:xfrm>
            <a:custGeom>
              <a:avLst/>
              <a:gdLst/>
              <a:ahLst/>
              <a:cxnLst/>
              <a:rect r="r" b="b" t="t" l="l"/>
              <a:pathLst>
                <a:path h="658368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6364224"/>
                  </a:lnTo>
                  <a:cubicBezTo>
                    <a:pt x="5029200" y="6485382"/>
                    <a:pt x="4930902" y="6583680"/>
                    <a:pt x="4809744" y="6583680"/>
                  </a:cubicBezTo>
                  <a:lnTo>
                    <a:pt x="219456" y="6583680"/>
                  </a:lnTo>
                  <a:cubicBezTo>
                    <a:pt x="98298" y="6583680"/>
                    <a:pt x="0" y="6485382"/>
                    <a:pt x="0" y="6364224"/>
                  </a:cubicBezTo>
                  <a:close/>
                </a:path>
              </a:pathLst>
            </a:custGeom>
            <a:solidFill>
              <a:srgbClr val="F4F7F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272016" y="2880360"/>
            <a:ext cx="3771900" cy="754380"/>
            <a:chOff x="0" y="0"/>
            <a:chExt cx="502920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29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786384"/>
                  </a:lnTo>
                  <a:cubicBezTo>
                    <a:pt x="5029200" y="907542"/>
                    <a:pt x="4930902" y="1005840"/>
                    <a:pt x="4809744" y="1005840"/>
                  </a:cubicBezTo>
                  <a:lnTo>
                    <a:pt x="219456" y="1005840"/>
                  </a:lnTo>
                  <a:cubicBezTo>
                    <a:pt x="98298" y="1005840"/>
                    <a:pt x="0" y="907542"/>
                    <a:pt x="0" y="786384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272016" y="2880360"/>
            <a:ext cx="3771900" cy="754380"/>
            <a:chOff x="0" y="0"/>
            <a:chExt cx="5029200" cy="1005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029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02920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Información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610344" y="3926205"/>
            <a:ext cx="3095244" cy="364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3D4C5C"/>
                </a:solidFill>
                <a:latin typeface="Arial"/>
                <a:ea typeface="Arial"/>
                <a:cs typeface="Arial"/>
                <a:sym typeface="Arial"/>
              </a:rPr>
              <a:t>Reportes y dashboards que responden preguntas de negocio.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071348" y="4663440"/>
            <a:ext cx="329184" cy="685800"/>
            <a:chOff x="0" y="0"/>
            <a:chExt cx="438912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38912" cy="914400"/>
            </a:xfrm>
            <a:custGeom>
              <a:avLst/>
              <a:gdLst/>
              <a:ahLst/>
              <a:cxnLst/>
              <a:rect r="r" b="b" t="t" l="l"/>
              <a:pathLst>
                <a:path h="9144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7299" t="0" r="-217299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438912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E8A3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427964" y="2880360"/>
            <a:ext cx="3771900" cy="4937760"/>
            <a:chOff x="0" y="0"/>
            <a:chExt cx="5029200" cy="6583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29200" cy="6583680"/>
            </a:xfrm>
            <a:custGeom>
              <a:avLst/>
              <a:gdLst/>
              <a:ahLst/>
              <a:cxnLst/>
              <a:rect r="r" b="b" t="t" l="l"/>
              <a:pathLst>
                <a:path h="658368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6364224"/>
                  </a:lnTo>
                  <a:cubicBezTo>
                    <a:pt x="5029200" y="6485382"/>
                    <a:pt x="4930902" y="6583680"/>
                    <a:pt x="4809744" y="6583680"/>
                  </a:cubicBezTo>
                  <a:lnTo>
                    <a:pt x="219456" y="6583680"/>
                  </a:lnTo>
                  <a:cubicBezTo>
                    <a:pt x="98298" y="6583680"/>
                    <a:pt x="0" y="6485382"/>
                    <a:pt x="0" y="6364224"/>
                  </a:cubicBezTo>
                  <a:close/>
                </a:path>
              </a:pathLst>
            </a:custGeom>
            <a:solidFill>
              <a:srgbClr val="F4F7F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427964" y="2880360"/>
            <a:ext cx="3771900" cy="754380"/>
            <a:chOff x="0" y="0"/>
            <a:chExt cx="5029200" cy="1005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29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0292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809744" y="0"/>
                  </a:lnTo>
                  <a:cubicBezTo>
                    <a:pt x="4930902" y="0"/>
                    <a:pt x="5029200" y="98298"/>
                    <a:pt x="5029200" y="219456"/>
                  </a:cubicBezTo>
                  <a:lnTo>
                    <a:pt x="5029200" y="786384"/>
                  </a:lnTo>
                  <a:cubicBezTo>
                    <a:pt x="5029200" y="907542"/>
                    <a:pt x="4930902" y="1005840"/>
                    <a:pt x="4809744" y="1005840"/>
                  </a:cubicBezTo>
                  <a:lnTo>
                    <a:pt x="219456" y="1005840"/>
                  </a:lnTo>
                  <a:cubicBezTo>
                    <a:pt x="98298" y="1005840"/>
                    <a:pt x="0" y="907542"/>
                    <a:pt x="0" y="786384"/>
                  </a:cubicBezTo>
                  <a:close/>
                </a:path>
              </a:pathLst>
            </a:custGeom>
            <a:solidFill>
              <a:srgbClr val="3D4C5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427964" y="2880360"/>
            <a:ext cx="3771900" cy="754380"/>
            <a:chOff x="0" y="0"/>
            <a:chExt cx="5029200" cy="1005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029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502920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Decisión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3766292" y="3926205"/>
            <a:ext cx="3095244" cy="364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3D4C5C"/>
                </a:solidFill>
                <a:latin typeface="Arial"/>
                <a:ea typeface="Arial"/>
                <a:cs typeface="Arial"/>
                <a:sym typeface="Arial"/>
              </a:rPr>
              <a:t>La organización actúa con base en evidencia, no en intuición.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60120" y="8229600"/>
            <a:ext cx="16322040" cy="1097280"/>
            <a:chOff x="0" y="0"/>
            <a:chExt cx="21762720" cy="1463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217627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0B2545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En este curso recorreremos ese camino completo: de datos crudos en Oracle Cloud a una aplicación en Streamlit lista para decidir.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6322040" cy="1097280"/>
            <a:chOff x="0" y="0"/>
            <a:chExt cx="217627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627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Objetivos del curso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2743200"/>
            <a:ext cx="754380" cy="754380"/>
            <a:chOff x="0" y="0"/>
            <a:chExt cx="1005840" cy="1005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3877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7280" y="2743200"/>
            <a:ext cx="754380" cy="754380"/>
            <a:chOff x="0" y="0"/>
            <a:chExt cx="100584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263140" y="2674620"/>
            <a:ext cx="14538960" cy="960120"/>
            <a:chOff x="0" y="0"/>
            <a:chExt cx="1938528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385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93852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D4C5C"/>
                  </a:solidFill>
                  <a:latin typeface="Arial"/>
                  <a:ea typeface="Arial"/>
                  <a:cs typeface="Arial"/>
                  <a:sym typeface="Arial"/>
                </a:rPr>
                <a:t>Escribir consultas SQL (DML y DDL) sobre bases de datos relacionales reales.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4320540"/>
            <a:ext cx="754380" cy="754380"/>
            <a:chOff x="0" y="0"/>
            <a:chExt cx="100584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97280" y="4320540"/>
            <a:ext cx="754380" cy="754380"/>
            <a:chOff x="0" y="0"/>
            <a:chExt cx="100584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263140" y="4251960"/>
            <a:ext cx="14538960" cy="960120"/>
            <a:chOff x="0" y="0"/>
            <a:chExt cx="1938528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385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93852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D4C5C"/>
                  </a:solidFill>
                  <a:latin typeface="Arial"/>
                  <a:ea typeface="Arial"/>
                  <a:cs typeface="Arial"/>
                  <a:sym typeface="Arial"/>
                </a:rPr>
                <a:t>Programar en Python aplicaciones de datos con Streamlit.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7280" y="5897880"/>
            <a:ext cx="754380" cy="754380"/>
            <a:chOff x="0" y="0"/>
            <a:chExt cx="100584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3877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97280" y="5897880"/>
            <a:ext cx="754380" cy="754380"/>
            <a:chOff x="0" y="0"/>
            <a:chExt cx="1005840" cy="1005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263140" y="5829300"/>
            <a:ext cx="14538960" cy="960120"/>
            <a:chOff x="0" y="0"/>
            <a:chExt cx="19385280" cy="1280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385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93852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D4C5C"/>
                  </a:solidFill>
                  <a:latin typeface="Arial"/>
                  <a:ea typeface="Arial"/>
                  <a:cs typeface="Arial"/>
                  <a:sym typeface="Arial"/>
                </a:rPr>
                <a:t>Conectar aplicaciones a una base de datos Oracle Cloud en producción.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7280" y="7475220"/>
            <a:ext cx="754380" cy="754380"/>
            <a:chOff x="0" y="0"/>
            <a:chExt cx="100584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97280" y="7475220"/>
            <a:ext cx="754380" cy="754380"/>
            <a:chOff x="0" y="0"/>
            <a:chExt cx="1005840" cy="1005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263140" y="7406640"/>
            <a:ext cx="14538960" cy="960120"/>
            <a:chOff x="0" y="0"/>
            <a:chExt cx="19385280" cy="1280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385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93852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D4C5C"/>
                  </a:solidFill>
                  <a:latin typeface="Arial"/>
                  <a:ea typeface="Arial"/>
                  <a:cs typeface="Arial"/>
                  <a:sym typeface="Arial"/>
                </a:rPr>
                <a:t>Construir, de principio a fin, una aplicación de BI completa: interfaz + lógica + datos.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6322040" cy="1097280"/>
            <a:chOff x="0" y="0"/>
            <a:chExt cx="217627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76272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Metodología: aprendizaje incremental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714500"/>
            <a:ext cx="16322040" cy="685800"/>
            <a:chOff x="0" y="0"/>
            <a:chExt cx="2176272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743" r="0" b="-4137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D4C5C"/>
                  </a:solidFill>
                  <a:latin typeface="Arial"/>
                  <a:ea typeface="Arial"/>
                  <a:cs typeface="Arial"/>
                  <a:sym typeface="Arial"/>
                </a:rPr>
                <a:t>Cada reto añade una capa nueva sobre la anterior — nunca partimos de cero.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5860" y="4114800"/>
            <a:ext cx="2948940" cy="2057400"/>
            <a:chOff x="0" y="0"/>
            <a:chExt cx="3931920" cy="2743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319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3931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749040" y="0"/>
                  </a:lnTo>
                  <a:cubicBezTo>
                    <a:pt x="3850005" y="0"/>
                    <a:pt x="3931920" y="81915"/>
                    <a:pt x="3931920" y="182880"/>
                  </a:cubicBezTo>
                  <a:lnTo>
                    <a:pt x="3931920" y="2560320"/>
                  </a:lnTo>
                  <a:cubicBezTo>
                    <a:pt x="3931920" y="2661285"/>
                    <a:pt x="3850005" y="2743200"/>
                    <a:pt x="3749040" y="2743200"/>
                  </a:cubicBezTo>
                  <a:lnTo>
                    <a:pt x="182880" y="2743200"/>
                  </a:lnTo>
                  <a:cubicBezTo>
                    <a:pt x="81915" y="2743200"/>
                    <a:pt x="0" y="2661285"/>
                    <a:pt x="0" y="2560320"/>
                  </a:cubicBezTo>
                  <a:close/>
                </a:path>
              </a:pathLst>
            </a:custGeom>
            <a:solidFill>
              <a:srgbClr val="13877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4320540"/>
            <a:ext cx="2948940" cy="548640"/>
            <a:chOff x="0" y="0"/>
            <a:chExt cx="393192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31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3931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Reto 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94460" y="4973955"/>
            <a:ext cx="249174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Interfaz con datos fijos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114800" y="4732020"/>
            <a:ext cx="329184" cy="822960"/>
            <a:chOff x="0" y="0"/>
            <a:chExt cx="438912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89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438912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›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416552" y="4114800"/>
            <a:ext cx="2948940" cy="2057400"/>
            <a:chOff x="0" y="0"/>
            <a:chExt cx="3931920" cy="2743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319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3931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749040" y="0"/>
                  </a:lnTo>
                  <a:cubicBezTo>
                    <a:pt x="3850005" y="0"/>
                    <a:pt x="3931920" y="81915"/>
                    <a:pt x="3931920" y="182880"/>
                  </a:cubicBezTo>
                  <a:lnTo>
                    <a:pt x="3931920" y="2560320"/>
                  </a:lnTo>
                  <a:cubicBezTo>
                    <a:pt x="3931920" y="2661285"/>
                    <a:pt x="3850005" y="2743200"/>
                    <a:pt x="3749040" y="2743200"/>
                  </a:cubicBezTo>
                  <a:lnTo>
                    <a:pt x="182880" y="2743200"/>
                  </a:lnTo>
                  <a:cubicBezTo>
                    <a:pt x="81915" y="2743200"/>
                    <a:pt x="0" y="2661285"/>
                    <a:pt x="0" y="2560320"/>
                  </a:cubicBezTo>
                  <a:close/>
                </a:path>
              </a:pathLst>
            </a:custGeom>
            <a:solidFill>
              <a:srgbClr val="13877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416552" y="4320540"/>
            <a:ext cx="2948940" cy="548640"/>
            <a:chOff x="0" y="0"/>
            <a:chExt cx="393192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31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3931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Reto 2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645152" y="4973955"/>
            <a:ext cx="249174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SQL: consultas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365492" y="4732020"/>
            <a:ext cx="329184" cy="822960"/>
            <a:chOff x="0" y="0"/>
            <a:chExt cx="438912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89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438912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›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667244" y="4114800"/>
            <a:ext cx="2948940" cy="2057400"/>
            <a:chOff x="0" y="0"/>
            <a:chExt cx="3931920" cy="2743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9319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3931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749040" y="0"/>
                  </a:lnTo>
                  <a:cubicBezTo>
                    <a:pt x="3850005" y="0"/>
                    <a:pt x="3931920" y="81915"/>
                    <a:pt x="3931920" y="182880"/>
                  </a:cubicBezTo>
                  <a:lnTo>
                    <a:pt x="3931920" y="2560320"/>
                  </a:lnTo>
                  <a:cubicBezTo>
                    <a:pt x="3931920" y="2661285"/>
                    <a:pt x="3850005" y="2743200"/>
                    <a:pt x="3749040" y="2743200"/>
                  </a:cubicBezTo>
                  <a:lnTo>
                    <a:pt x="182880" y="2743200"/>
                  </a:lnTo>
                  <a:cubicBezTo>
                    <a:pt x="81915" y="2743200"/>
                    <a:pt x="0" y="2661285"/>
                    <a:pt x="0" y="2560320"/>
                  </a:cubicBezTo>
                  <a:close/>
                </a:path>
              </a:pathLst>
            </a:custGeom>
            <a:solidFill>
              <a:srgbClr val="13877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667244" y="4320540"/>
            <a:ext cx="2948940" cy="548640"/>
            <a:chOff x="0" y="0"/>
            <a:chExt cx="393192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931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3931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Reto 3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7895844" y="4973955"/>
            <a:ext cx="249174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SQL en Streamlit + Oracle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616184" y="4732020"/>
            <a:ext cx="329184" cy="822960"/>
            <a:chOff x="0" y="0"/>
            <a:chExt cx="438912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89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438912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›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917936" y="4114800"/>
            <a:ext cx="2948940" cy="2057400"/>
            <a:chOff x="0" y="0"/>
            <a:chExt cx="3931920" cy="2743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319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3931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749040" y="0"/>
                  </a:lnTo>
                  <a:cubicBezTo>
                    <a:pt x="3850005" y="0"/>
                    <a:pt x="3931920" y="81915"/>
                    <a:pt x="3931920" y="182880"/>
                  </a:cubicBezTo>
                  <a:lnTo>
                    <a:pt x="3931920" y="2560320"/>
                  </a:lnTo>
                  <a:cubicBezTo>
                    <a:pt x="3931920" y="2661285"/>
                    <a:pt x="3850005" y="2743200"/>
                    <a:pt x="3749040" y="2743200"/>
                  </a:cubicBezTo>
                  <a:lnTo>
                    <a:pt x="182880" y="2743200"/>
                  </a:lnTo>
                  <a:cubicBezTo>
                    <a:pt x="81915" y="2743200"/>
                    <a:pt x="0" y="2661285"/>
                    <a:pt x="0" y="2560320"/>
                  </a:cubicBezTo>
                  <a:close/>
                </a:path>
              </a:pathLst>
            </a:custGeom>
            <a:solidFill>
              <a:srgbClr val="13877C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917936" y="4320540"/>
            <a:ext cx="2948940" cy="548640"/>
            <a:chOff x="0" y="0"/>
            <a:chExt cx="393192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31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3931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Parcial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1146536" y="4973955"/>
            <a:ext cx="249174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Formularios INSERT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3866876" y="4732020"/>
            <a:ext cx="329184" cy="822960"/>
            <a:chOff x="0" y="0"/>
            <a:chExt cx="438912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389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438912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›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168628" y="4114800"/>
            <a:ext cx="2948940" cy="2057400"/>
            <a:chOff x="0" y="0"/>
            <a:chExt cx="3931920" cy="2743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9319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3931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749040" y="0"/>
                  </a:lnTo>
                  <a:cubicBezTo>
                    <a:pt x="3850005" y="0"/>
                    <a:pt x="3931920" y="81915"/>
                    <a:pt x="3931920" y="182880"/>
                  </a:cubicBezTo>
                  <a:lnTo>
                    <a:pt x="3931920" y="2560320"/>
                  </a:lnTo>
                  <a:cubicBezTo>
                    <a:pt x="3931920" y="2661285"/>
                    <a:pt x="3850005" y="2743200"/>
                    <a:pt x="3749040" y="2743200"/>
                  </a:cubicBezTo>
                  <a:lnTo>
                    <a:pt x="182880" y="2743200"/>
                  </a:lnTo>
                  <a:cubicBezTo>
                    <a:pt x="81915" y="2743200"/>
                    <a:pt x="0" y="2661285"/>
                    <a:pt x="0" y="2560320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168628" y="4320540"/>
            <a:ext cx="2948940" cy="548640"/>
            <a:chOff x="0" y="0"/>
            <a:chExt cx="393192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931920" cy="731520"/>
            </a:xfrm>
            <a:custGeom>
              <a:avLst/>
              <a:gdLst/>
              <a:ahLst/>
              <a:cxnLst/>
              <a:rect r="r" b="b" t="t" l="l"/>
              <a:pathLst>
                <a:path h="73152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3931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Proyecto final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4397228" y="4973955"/>
            <a:ext cx="249174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 completa + GitHub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229231" y="7227811"/>
            <a:ext cx="16322040" cy="685800"/>
            <a:chOff x="0" y="0"/>
            <a:chExt cx="2176272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743" r="0" b="-41374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217627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0B2545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Proyecto conductor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6322040" cy="1097280"/>
            <a:chOff x="0" y="0"/>
            <a:chExt cx="217627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627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Evaluación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4864" y="1289304"/>
            <a:ext cx="9217152" cy="8668512"/>
          </a:xfrm>
          <a:prstGeom prst="rect">
            <a:avLst/>
          </a:prstGeom>
        </p:spPr>
      </p:pic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9052560" y="2331720"/>
          <a:ext cx="8343900" cy="4381500"/>
        </p:xfrm>
        <a:graphic>
          <a:graphicData uri="http://schemas.openxmlformats.org/drawingml/2006/table">
            <a:tbl>
              <a:tblPr/>
              <a:tblGrid>
                <a:gridCol w="2781300"/>
                <a:gridCol w="2781300"/>
                <a:gridCol w="2781300"/>
              </a:tblGrid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D4C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D4C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Peso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D4C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Detalle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D4C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Talleres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D4C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D4C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talleres prácticos, 5% cada uno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D4C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Parciales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D4C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D4C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parciales, 20% cada uno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D4C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Proyecto final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D4C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D4C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Aplicación completa + sustentación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D4C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Asistencia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D4C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3D4C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 registra en cada clase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9052560" y="2331720"/>
            <a:ext cx="8366760" cy="891540"/>
            <a:chOff x="0" y="0"/>
            <a:chExt cx="11155680" cy="1188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556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052560" y="2331720"/>
            <a:ext cx="2743200" cy="891540"/>
            <a:chOff x="0" y="0"/>
            <a:chExt cx="3657600" cy="1188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576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65760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Componente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795760" y="2331720"/>
            <a:ext cx="2194560" cy="891540"/>
            <a:chOff x="0" y="0"/>
            <a:chExt cx="2926080" cy="1188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260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3" t="0" r="-212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92608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Peso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990320" y="2331720"/>
            <a:ext cx="3429000" cy="891540"/>
            <a:chOff x="0" y="0"/>
            <a:chExt cx="4572000" cy="1188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72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57200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Detalle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48640"/>
            <a:ext cx="16322040" cy="960120"/>
            <a:chOff x="0" y="0"/>
            <a:chExt cx="2176272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76272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Cronograma general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440180"/>
            <a:ext cx="16322040" cy="548640"/>
            <a:chOff x="0" y="0"/>
            <a:chExt cx="217627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62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D4C5C"/>
                  </a:solidFill>
                  <a:latin typeface="Arial"/>
                  <a:ea typeface="Arial"/>
                  <a:cs typeface="Arial"/>
                  <a:sym typeface="Arial"/>
                </a:rPr>
                <a:t>13 de julio – 3 de noviembre · lunes y miércoles, 3:00–4:30 p.m.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5390" y="4918710"/>
            <a:ext cx="15811500" cy="38100"/>
            <a:chOff x="0" y="0"/>
            <a:chExt cx="2108200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82000" cy="50800"/>
            </a:xfrm>
            <a:custGeom>
              <a:avLst/>
              <a:gdLst/>
              <a:ahLst/>
              <a:cxnLst/>
              <a:rect r="r" b="b" t="t" l="l"/>
              <a:pathLst>
                <a:path h="50800" w="21082000">
                  <a:moveTo>
                    <a:pt x="0" y="0"/>
                  </a:moveTo>
                  <a:lnTo>
                    <a:pt x="2108200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8036290" r="0" b="-8036290"/>
              </a:stretch>
            </a:blipFill>
            <a:ln w="38100" cap="sq">
              <a:solidFill>
                <a:srgbClr val="C7D2D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64514" y="4767834"/>
            <a:ext cx="339852" cy="339852"/>
            <a:chOff x="0" y="0"/>
            <a:chExt cx="453136" cy="4531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3136" cy="453136"/>
            </a:xfrm>
            <a:custGeom>
              <a:avLst/>
              <a:gdLst/>
              <a:ahLst/>
              <a:cxnLst/>
              <a:rect r="r" b="b" t="t" l="l"/>
              <a:pathLst>
                <a:path h="453136" w="453136">
                  <a:moveTo>
                    <a:pt x="0" y="226568"/>
                  </a:moveTo>
                  <a:cubicBezTo>
                    <a:pt x="0" y="101473"/>
                    <a:pt x="101473" y="0"/>
                    <a:pt x="226568" y="0"/>
                  </a:cubicBezTo>
                  <a:cubicBezTo>
                    <a:pt x="351663" y="0"/>
                    <a:pt x="453136" y="101473"/>
                    <a:pt x="453136" y="226568"/>
                  </a:cubicBezTo>
                  <a:cubicBezTo>
                    <a:pt x="453136" y="351663"/>
                    <a:pt x="351663" y="453136"/>
                    <a:pt x="226568" y="453136"/>
                  </a:cubicBezTo>
                  <a:cubicBezTo>
                    <a:pt x="101473" y="453136"/>
                    <a:pt x="0" y="351663"/>
                    <a:pt x="0" y="226568"/>
                  </a:cubicBezTo>
                  <a:close/>
                </a:path>
              </a:pathLst>
            </a:custGeom>
            <a:solidFill>
              <a:srgbClr val="13877C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8580" y="3497580"/>
            <a:ext cx="2331720" cy="685800"/>
            <a:chOff x="0" y="0"/>
            <a:chExt cx="310896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08960" cy="914400"/>
            </a:xfrm>
            <a:custGeom>
              <a:avLst/>
              <a:gdLst/>
              <a:ahLst/>
              <a:cxnLst/>
              <a:rect r="r" b="b" t="t" l="l"/>
              <a:pathLst>
                <a:path h="9144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10896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Taller 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" y="4114800"/>
            <a:ext cx="2331720" cy="548640"/>
            <a:chOff x="0" y="0"/>
            <a:chExt cx="310896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3108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3D4C5C"/>
                  </a:solidFill>
                  <a:latin typeface="Arial"/>
                  <a:ea typeface="Arial"/>
                  <a:cs typeface="Arial"/>
                  <a:sym typeface="Arial"/>
                </a:rPr>
                <a:t>5 ago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219194" y="4767834"/>
            <a:ext cx="339852" cy="339852"/>
            <a:chOff x="0" y="0"/>
            <a:chExt cx="453136" cy="4531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3136" cy="453136"/>
            </a:xfrm>
            <a:custGeom>
              <a:avLst/>
              <a:gdLst/>
              <a:ahLst/>
              <a:cxnLst/>
              <a:rect r="r" b="b" t="t" l="l"/>
              <a:pathLst>
                <a:path h="453136" w="453136">
                  <a:moveTo>
                    <a:pt x="0" y="226568"/>
                  </a:moveTo>
                  <a:cubicBezTo>
                    <a:pt x="0" y="101473"/>
                    <a:pt x="101473" y="0"/>
                    <a:pt x="226568" y="0"/>
                  </a:cubicBezTo>
                  <a:cubicBezTo>
                    <a:pt x="351663" y="0"/>
                    <a:pt x="453136" y="101473"/>
                    <a:pt x="453136" y="226568"/>
                  </a:cubicBezTo>
                  <a:cubicBezTo>
                    <a:pt x="453136" y="351663"/>
                    <a:pt x="351663" y="453136"/>
                    <a:pt x="226568" y="453136"/>
                  </a:cubicBezTo>
                  <a:cubicBezTo>
                    <a:pt x="101473" y="453136"/>
                    <a:pt x="0" y="351663"/>
                    <a:pt x="0" y="226568"/>
                  </a:cubicBezTo>
                  <a:close/>
                </a:path>
              </a:pathLst>
            </a:custGeom>
            <a:solidFill>
              <a:srgbClr val="13877C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3223260" y="5349240"/>
            <a:ext cx="2331720" cy="685800"/>
            <a:chOff x="0" y="0"/>
            <a:chExt cx="310896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08960" cy="914400"/>
            </a:xfrm>
            <a:custGeom>
              <a:avLst/>
              <a:gdLst/>
              <a:ahLst/>
              <a:cxnLst/>
              <a:rect r="r" b="b" t="t" l="l"/>
              <a:pathLst>
                <a:path h="9144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310896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Taller 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223260" y="6035040"/>
            <a:ext cx="2331720" cy="548640"/>
            <a:chOff x="0" y="0"/>
            <a:chExt cx="310896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3108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3D4C5C"/>
                  </a:solidFill>
                  <a:latin typeface="Arial"/>
                  <a:ea typeface="Arial"/>
                  <a:cs typeface="Arial"/>
                  <a:sym typeface="Arial"/>
                </a:rPr>
                <a:t>2 sep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373874" y="4767834"/>
            <a:ext cx="339852" cy="339852"/>
            <a:chOff x="0" y="0"/>
            <a:chExt cx="453136" cy="4531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53136" cy="453136"/>
            </a:xfrm>
            <a:custGeom>
              <a:avLst/>
              <a:gdLst/>
              <a:ahLst/>
              <a:cxnLst/>
              <a:rect r="r" b="b" t="t" l="l"/>
              <a:pathLst>
                <a:path h="453136" w="453136">
                  <a:moveTo>
                    <a:pt x="0" y="226568"/>
                  </a:moveTo>
                  <a:cubicBezTo>
                    <a:pt x="0" y="101473"/>
                    <a:pt x="101473" y="0"/>
                    <a:pt x="226568" y="0"/>
                  </a:cubicBezTo>
                  <a:cubicBezTo>
                    <a:pt x="351663" y="0"/>
                    <a:pt x="453136" y="101473"/>
                    <a:pt x="453136" y="226568"/>
                  </a:cubicBezTo>
                  <a:cubicBezTo>
                    <a:pt x="453136" y="351663"/>
                    <a:pt x="351663" y="453136"/>
                    <a:pt x="226568" y="453136"/>
                  </a:cubicBezTo>
                  <a:cubicBezTo>
                    <a:pt x="101473" y="453136"/>
                    <a:pt x="0" y="351663"/>
                    <a:pt x="0" y="226568"/>
                  </a:cubicBezTo>
                  <a:close/>
                </a:path>
              </a:pathLst>
            </a:custGeom>
            <a:solidFill>
              <a:srgbClr val="13877C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377940" y="3497580"/>
            <a:ext cx="2331720" cy="685800"/>
            <a:chOff x="0" y="0"/>
            <a:chExt cx="310896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108960" cy="914400"/>
            </a:xfrm>
            <a:custGeom>
              <a:avLst/>
              <a:gdLst/>
              <a:ahLst/>
              <a:cxnLst/>
              <a:rect r="r" b="b" t="t" l="l"/>
              <a:pathLst>
                <a:path h="9144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10896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Parcial 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377940" y="4114800"/>
            <a:ext cx="2331720" cy="548640"/>
            <a:chOff x="0" y="0"/>
            <a:chExt cx="310896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3108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3D4C5C"/>
                  </a:solidFill>
                  <a:latin typeface="Arial"/>
                  <a:ea typeface="Arial"/>
                  <a:cs typeface="Arial"/>
                  <a:sym typeface="Arial"/>
                </a:rPr>
                <a:t>14 sep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528554" y="4767834"/>
            <a:ext cx="339852" cy="339852"/>
            <a:chOff x="0" y="0"/>
            <a:chExt cx="453136" cy="4531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53136" cy="453136"/>
            </a:xfrm>
            <a:custGeom>
              <a:avLst/>
              <a:gdLst/>
              <a:ahLst/>
              <a:cxnLst/>
              <a:rect r="r" b="b" t="t" l="l"/>
              <a:pathLst>
                <a:path h="453136" w="453136">
                  <a:moveTo>
                    <a:pt x="0" y="226568"/>
                  </a:moveTo>
                  <a:cubicBezTo>
                    <a:pt x="0" y="101473"/>
                    <a:pt x="101473" y="0"/>
                    <a:pt x="226568" y="0"/>
                  </a:cubicBezTo>
                  <a:cubicBezTo>
                    <a:pt x="351663" y="0"/>
                    <a:pt x="453136" y="101473"/>
                    <a:pt x="453136" y="226568"/>
                  </a:cubicBezTo>
                  <a:cubicBezTo>
                    <a:pt x="453136" y="351663"/>
                    <a:pt x="351663" y="453136"/>
                    <a:pt x="226568" y="453136"/>
                  </a:cubicBezTo>
                  <a:cubicBezTo>
                    <a:pt x="101473" y="453136"/>
                    <a:pt x="0" y="351663"/>
                    <a:pt x="0" y="226568"/>
                  </a:cubicBezTo>
                  <a:close/>
                </a:path>
              </a:pathLst>
            </a:custGeom>
            <a:solidFill>
              <a:srgbClr val="13877C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532620" y="5349240"/>
            <a:ext cx="2331720" cy="685800"/>
            <a:chOff x="0" y="0"/>
            <a:chExt cx="310896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108960" cy="914400"/>
            </a:xfrm>
            <a:custGeom>
              <a:avLst/>
              <a:gdLst/>
              <a:ahLst/>
              <a:cxnLst/>
              <a:rect r="r" b="b" t="t" l="l"/>
              <a:pathLst>
                <a:path h="9144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310896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Taller 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532620" y="6035040"/>
            <a:ext cx="2331720" cy="548640"/>
            <a:chOff x="0" y="0"/>
            <a:chExt cx="310896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3108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3D4C5C"/>
                  </a:solidFill>
                  <a:latin typeface="Arial"/>
                  <a:ea typeface="Arial"/>
                  <a:cs typeface="Arial"/>
                  <a:sym typeface="Arial"/>
                </a:rPr>
                <a:t>14 oct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683234" y="4767834"/>
            <a:ext cx="339852" cy="339852"/>
            <a:chOff x="0" y="0"/>
            <a:chExt cx="453136" cy="45313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53136" cy="453136"/>
            </a:xfrm>
            <a:custGeom>
              <a:avLst/>
              <a:gdLst/>
              <a:ahLst/>
              <a:cxnLst/>
              <a:rect r="r" b="b" t="t" l="l"/>
              <a:pathLst>
                <a:path h="453136" w="453136">
                  <a:moveTo>
                    <a:pt x="0" y="226568"/>
                  </a:moveTo>
                  <a:cubicBezTo>
                    <a:pt x="0" y="101473"/>
                    <a:pt x="101473" y="0"/>
                    <a:pt x="226568" y="0"/>
                  </a:cubicBezTo>
                  <a:cubicBezTo>
                    <a:pt x="351663" y="0"/>
                    <a:pt x="453136" y="101473"/>
                    <a:pt x="453136" y="226568"/>
                  </a:cubicBezTo>
                  <a:cubicBezTo>
                    <a:pt x="453136" y="351663"/>
                    <a:pt x="351663" y="453136"/>
                    <a:pt x="226568" y="453136"/>
                  </a:cubicBezTo>
                  <a:cubicBezTo>
                    <a:pt x="101473" y="453136"/>
                    <a:pt x="0" y="351663"/>
                    <a:pt x="0" y="226568"/>
                  </a:cubicBezTo>
                  <a:close/>
                </a:path>
              </a:pathLst>
            </a:custGeom>
            <a:solidFill>
              <a:srgbClr val="13877C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687300" y="3497580"/>
            <a:ext cx="2331720" cy="685800"/>
            <a:chOff x="0" y="0"/>
            <a:chExt cx="310896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108960" cy="914400"/>
            </a:xfrm>
            <a:custGeom>
              <a:avLst/>
              <a:gdLst/>
              <a:ahLst/>
              <a:cxnLst/>
              <a:rect r="r" b="b" t="t" l="l"/>
              <a:pathLst>
                <a:path h="9144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310896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Parcial 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687300" y="4114800"/>
            <a:ext cx="2331720" cy="548640"/>
            <a:chOff x="0" y="0"/>
            <a:chExt cx="310896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3108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3D4C5C"/>
                  </a:solidFill>
                  <a:latin typeface="Arial"/>
                  <a:ea typeface="Arial"/>
                  <a:cs typeface="Arial"/>
                  <a:sym typeface="Arial"/>
                </a:rPr>
                <a:t>26 oct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837914" y="4767834"/>
            <a:ext cx="339852" cy="339852"/>
            <a:chOff x="0" y="0"/>
            <a:chExt cx="453136" cy="45313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53136" cy="453136"/>
            </a:xfrm>
            <a:custGeom>
              <a:avLst/>
              <a:gdLst/>
              <a:ahLst/>
              <a:cxnLst/>
              <a:rect r="r" b="b" t="t" l="l"/>
              <a:pathLst>
                <a:path h="453136" w="453136">
                  <a:moveTo>
                    <a:pt x="0" y="226568"/>
                  </a:moveTo>
                  <a:cubicBezTo>
                    <a:pt x="0" y="101473"/>
                    <a:pt x="101473" y="0"/>
                    <a:pt x="226568" y="0"/>
                  </a:cubicBezTo>
                  <a:cubicBezTo>
                    <a:pt x="351663" y="0"/>
                    <a:pt x="453136" y="101473"/>
                    <a:pt x="453136" y="226568"/>
                  </a:cubicBezTo>
                  <a:cubicBezTo>
                    <a:pt x="453136" y="351663"/>
                    <a:pt x="351663" y="453136"/>
                    <a:pt x="226568" y="453136"/>
                  </a:cubicBezTo>
                  <a:cubicBezTo>
                    <a:pt x="101473" y="453136"/>
                    <a:pt x="0" y="351663"/>
                    <a:pt x="0" y="226568"/>
                  </a:cubicBezTo>
                  <a:close/>
                </a:path>
              </a:pathLst>
            </a:custGeom>
            <a:solidFill>
              <a:srgbClr val="E8A33D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5841980" y="5349240"/>
            <a:ext cx="2331720" cy="685800"/>
            <a:chOff x="0" y="0"/>
            <a:chExt cx="310896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108960" cy="914400"/>
            </a:xfrm>
            <a:custGeom>
              <a:avLst/>
              <a:gdLst/>
              <a:ahLst/>
              <a:cxnLst/>
              <a:rect r="r" b="b" t="t" l="l"/>
              <a:pathLst>
                <a:path h="9144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310896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Proyecto final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5841980" y="6035040"/>
            <a:ext cx="2331720" cy="548640"/>
            <a:chOff x="0" y="0"/>
            <a:chExt cx="310896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3108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3D4C5C"/>
                  </a:solidFill>
                  <a:latin typeface="Arial"/>
                  <a:ea typeface="Arial"/>
                  <a:cs typeface="Arial"/>
                  <a:sym typeface="Arial"/>
                </a:rPr>
                <a:t>11 nov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60120" y="8092440"/>
            <a:ext cx="16322040" cy="685800"/>
            <a:chOff x="0" y="0"/>
            <a:chExt cx="2176272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743" r="0" b="-41374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217627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3D4C5C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Semana de receso: 5–11 de octubre. Sin actividades evaluativas el 28–30 de septiembre (semana universitaria).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60120" y="8709660"/>
            <a:ext cx="16322040" cy="685800"/>
            <a:chOff x="0" y="0"/>
            <a:chExt cx="21762720" cy="914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743" r="0" b="-41374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217627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3D4C5C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El proyecto final se entrega y sustenta en el periodo de evaluaciones finales (9–21 de noviembre).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6322040" cy="1097280"/>
            <a:chOff x="0" y="0"/>
            <a:chExt cx="217627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627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Herramientas del curso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3154680"/>
            <a:ext cx="2948940" cy="3977640"/>
            <a:chOff x="0" y="0"/>
            <a:chExt cx="3931920" cy="5303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31920" cy="5303520"/>
            </a:xfrm>
            <a:custGeom>
              <a:avLst/>
              <a:gdLst/>
              <a:ahLst/>
              <a:cxnLst/>
              <a:rect r="r" b="b" t="t" l="l"/>
              <a:pathLst>
                <a:path h="5303520" w="3931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749040" y="0"/>
                  </a:lnTo>
                  <a:cubicBezTo>
                    <a:pt x="3850005" y="0"/>
                    <a:pt x="3931920" y="81915"/>
                    <a:pt x="3931920" y="182880"/>
                  </a:cubicBezTo>
                  <a:lnTo>
                    <a:pt x="3931920" y="5120640"/>
                  </a:lnTo>
                  <a:cubicBezTo>
                    <a:pt x="3931920" y="5221605"/>
                    <a:pt x="3850005" y="5303520"/>
                    <a:pt x="3749040" y="5303520"/>
                  </a:cubicBezTo>
                  <a:lnTo>
                    <a:pt x="182880" y="5303520"/>
                  </a:lnTo>
                  <a:cubicBezTo>
                    <a:pt x="81915" y="5303520"/>
                    <a:pt x="0" y="5221605"/>
                    <a:pt x="0" y="5120640"/>
                  </a:cubicBezTo>
                  <a:close/>
                </a:path>
              </a:pathLst>
            </a:custGeom>
            <a:solidFill>
              <a:srgbClr val="13314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40180" y="3566160"/>
            <a:ext cx="1988820" cy="960120"/>
            <a:chOff x="0" y="0"/>
            <a:chExt cx="26517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517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6517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505456" y="0"/>
                  </a:lnTo>
                  <a:cubicBezTo>
                    <a:pt x="2586228" y="0"/>
                    <a:pt x="2651760" y="65532"/>
                    <a:pt x="2651760" y="146304"/>
                  </a:cubicBezTo>
                  <a:lnTo>
                    <a:pt x="2651760" y="1133856"/>
                  </a:lnTo>
                  <a:cubicBezTo>
                    <a:pt x="2651760" y="1214628"/>
                    <a:pt x="2586228" y="1280160"/>
                    <a:pt x="2505456" y="1280160"/>
                  </a:cubicBezTo>
                  <a:lnTo>
                    <a:pt x="146304" y="1280160"/>
                  </a:lnTo>
                  <a:cubicBezTo>
                    <a:pt x="65532" y="1280160"/>
                    <a:pt x="0" y="1214628"/>
                    <a:pt x="0" y="1133856"/>
                  </a:cubicBezTo>
                  <a:close/>
                </a:path>
              </a:pathLst>
            </a:custGeom>
            <a:solidFill>
              <a:srgbClr val="13877C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120" y="3566160"/>
            <a:ext cx="2948940" cy="960120"/>
            <a:chOff x="0" y="0"/>
            <a:chExt cx="3931920" cy="1280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319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6" r="0" b="-984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393192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SQL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57300" y="4827270"/>
            <a:ext cx="2354580" cy="198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C7D6E3"/>
                </a:solidFill>
                <a:latin typeface="Arial"/>
                <a:ea typeface="Arial"/>
                <a:cs typeface="Arial"/>
                <a:sym typeface="Arial"/>
              </a:rPr>
              <a:t>Consultas y manipulación de datos (DML/DDL)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183380" y="3154680"/>
            <a:ext cx="2948940" cy="3977640"/>
            <a:chOff x="0" y="0"/>
            <a:chExt cx="3931920" cy="5303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31920" cy="5303520"/>
            </a:xfrm>
            <a:custGeom>
              <a:avLst/>
              <a:gdLst/>
              <a:ahLst/>
              <a:cxnLst/>
              <a:rect r="r" b="b" t="t" l="l"/>
              <a:pathLst>
                <a:path h="5303520" w="3931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749040" y="0"/>
                  </a:lnTo>
                  <a:cubicBezTo>
                    <a:pt x="3850005" y="0"/>
                    <a:pt x="3931920" y="81915"/>
                    <a:pt x="3931920" y="182880"/>
                  </a:cubicBezTo>
                  <a:lnTo>
                    <a:pt x="3931920" y="5120640"/>
                  </a:lnTo>
                  <a:cubicBezTo>
                    <a:pt x="3931920" y="5221605"/>
                    <a:pt x="3850005" y="5303520"/>
                    <a:pt x="3749040" y="5303520"/>
                  </a:cubicBezTo>
                  <a:lnTo>
                    <a:pt x="182880" y="5303520"/>
                  </a:lnTo>
                  <a:cubicBezTo>
                    <a:pt x="81915" y="5303520"/>
                    <a:pt x="0" y="5221605"/>
                    <a:pt x="0" y="5120640"/>
                  </a:cubicBezTo>
                  <a:close/>
                </a:path>
              </a:pathLst>
            </a:custGeom>
            <a:solidFill>
              <a:srgbClr val="13314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663440" y="3566160"/>
            <a:ext cx="1988820" cy="960120"/>
            <a:chOff x="0" y="0"/>
            <a:chExt cx="2651760" cy="1280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517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6517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505456" y="0"/>
                  </a:lnTo>
                  <a:cubicBezTo>
                    <a:pt x="2586228" y="0"/>
                    <a:pt x="2651760" y="65532"/>
                    <a:pt x="2651760" y="146304"/>
                  </a:cubicBezTo>
                  <a:lnTo>
                    <a:pt x="2651760" y="1133856"/>
                  </a:lnTo>
                  <a:cubicBezTo>
                    <a:pt x="2651760" y="1214628"/>
                    <a:pt x="2586228" y="1280160"/>
                    <a:pt x="2505456" y="1280160"/>
                  </a:cubicBezTo>
                  <a:lnTo>
                    <a:pt x="146304" y="1280160"/>
                  </a:lnTo>
                  <a:cubicBezTo>
                    <a:pt x="65532" y="1280160"/>
                    <a:pt x="0" y="1214628"/>
                    <a:pt x="0" y="1133856"/>
                  </a:cubicBezTo>
                  <a:close/>
                </a:path>
              </a:pathLst>
            </a:custGeom>
            <a:solidFill>
              <a:srgbClr val="13877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183380" y="3566160"/>
            <a:ext cx="2948940" cy="960120"/>
            <a:chOff x="0" y="0"/>
            <a:chExt cx="3931920" cy="1280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319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6" r="0" b="-984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393192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Python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480560" y="4827270"/>
            <a:ext cx="2354580" cy="198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C7D6E3"/>
                </a:solidFill>
                <a:latin typeface="Arial"/>
                <a:ea typeface="Arial"/>
                <a:cs typeface="Arial"/>
                <a:sym typeface="Arial"/>
              </a:rPr>
              <a:t>Lógica de la aplicación, con Anaconda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406640" y="3154680"/>
            <a:ext cx="2948940" cy="3977640"/>
            <a:chOff x="0" y="0"/>
            <a:chExt cx="3931920" cy="5303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931920" cy="5303520"/>
            </a:xfrm>
            <a:custGeom>
              <a:avLst/>
              <a:gdLst/>
              <a:ahLst/>
              <a:cxnLst/>
              <a:rect r="r" b="b" t="t" l="l"/>
              <a:pathLst>
                <a:path h="5303520" w="3931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749040" y="0"/>
                  </a:lnTo>
                  <a:cubicBezTo>
                    <a:pt x="3850005" y="0"/>
                    <a:pt x="3931920" y="81915"/>
                    <a:pt x="3931920" y="182880"/>
                  </a:cubicBezTo>
                  <a:lnTo>
                    <a:pt x="3931920" y="5120640"/>
                  </a:lnTo>
                  <a:cubicBezTo>
                    <a:pt x="3931920" y="5221605"/>
                    <a:pt x="3850005" y="5303520"/>
                    <a:pt x="3749040" y="5303520"/>
                  </a:cubicBezTo>
                  <a:lnTo>
                    <a:pt x="182880" y="5303520"/>
                  </a:lnTo>
                  <a:cubicBezTo>
                    <a:pt x="81915" y="5303520"/>
                    <a:pt x="0" y="5221605"/>
                    <a:pt x="0" y="5120640"/>
                  </a:cubicBezTo>
                  <a:close/>
                </a:path>
              </a:pathLst>
            </a:custGeom>
            <a:solidFill>
              <a:srgbClr val="13314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886700" y="3566160"/>
            <a:ext cx="1988820" cy="960120"/>
            <a:chOff x="0" y="0"/>
            <a:chExt cx="2651760" cy="1280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517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6517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505456" y="0"/>
                  </a:lnTo>
                  <a:cubicBezTo>
                    <a:pt x="2586228" y="0"/>
                    <a:pt x="2651760" y="65532"/>
                    <a:pt x="2651760" y="146304"/>
                  </a:cubicBezTo>
                  <a:lnTo>
                    <a:pt x="2651760" y="1133856"/>
                  </a:lnTo>
                  <a:cubicBezTo>
                    <a:pt x="2651760" y="1214628"/>
                    <a:pt x="2586228" y="1280160"/>
                    <a:pt x="2505456" y="1280160"/>
                  </a:cubicBezTo>
                  <a:lnTo>
                    <a:pt x="146304" y="1280160"/>
                  </a:lnTo>
                  <a:cubicBezTo>
                    <a:pt x="65532" y="1280160"/>
                    <a:pt x="0" y="1214628"/>
                    <a:pt x="0" y="1133856"/>
                  </a:cubicBezTo>
                  <a:close/>
                </a:path>
              </a:pathLst>
            </a:custGeom>
            <a:solidFill>
              <a:srgbClr val="13877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406640" y="3566160"/>
            <a:ext cx="2948940" cy="960120"/>
            <a:chOff x="0" y="0"/>
            <a:chExt cx="393192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9319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6" r="0" b="-984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393192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Streamlit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703820" y="4827270"/>
            <a:ext cx="2354580" cy="198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C7D6E3"/>
                </a:solidFill>
                <a:latin typeface="Arial"/>
                <a:ea typeface="Arial"/>
                <a:cs typeface="Arial"/>
                <a:sym typeface="Arial"/>
              </a:rPr>
              <a:t>Interfaz web interactiva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629900" y="3154680"/>
            <a:ext cx="2948940" cy="3977640"/>
            <a:chOff x="0" y="0"/>
            <a:chExt cx="3931920" cy="5303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31920" cy="5303520"/>
            </a:xfrm>
            <a:custGeom>
              <a:avLst/>
              <a:gdLst/>
              <a:ahLst/>
              <a:cxnLst/>
              <a:rect r="r" b="b" t="t" l="l"/>
              <a:pathLst>
                <a:path h="5303520" w="3931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749040" y="0"/>
                  </a:lnTo>
                  <a:cubicBezTo>
                    <a:pt x="3850005" y="0"/>
                    <a:pt x="3931920" y="81915"/>
                    <a:pt x="3931920" y="182880"/>
                  </a:cubicBezTo>
                  <a:lnTo>
                    <a:pt x="3931920" y="5120640"/>
                  </a:lnTo>
                  <a:cubicBezTo>
                    <a:pt x="3931920" y="5221605"/>
                    <a:pt x="3850005" y="5303520"/>
                    <a:pt x="3749040" y="5303520"/>
                  </a:cubicBezTo>
                  <a:lnTo>
                    <a:pt x="182880" y="5303520"/>
                  </a:lnTo>
                  <a:cubicBezTo>
                    <a:pt x="81915" y="5303520"/>
                    <a:pt x="0" y="5221605"/>
                    <a:pt x="0" y="5120640"/>
                  </a:cubicBezTo>
                  <a:close/>
                </a:path>
              </a:pathLst>
            </a:custGeom>
            <a:solidFill>
              <a:srgbClr val="13314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109960" y="3566160"/>
            <a:ext cx="1988820" cy="960120"/>
            <a:chOff x="0" y="0"/>
            <a:chExt cx="2651760" cy="12801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517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6517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505456" y="0"/>
                  </a:lnTo>
                  <a:cubicBezTo>
                    <a:pt x="2586228" y="0"/>
                    <a:pt x="2651760" y="65532"/>
                    <a:pt x="2651760" y="146304"/>
                  </a:cubicBezTo>
                  <a:lnTo>
                    <a:pt x="2651760" y="1133856"/>
                  </a:lnTo>
                  <a:cubicBezTo>
                    <a:pt x="2651760" y="1214628"/>
                    <a:pt x="2586228" y="1280160"/>
                    <a:pt x="2505456" y="1280160"/>
                  </a:cubicBezTo>
                  <a:lnTo>
                    <a:pt x="146304" y="1280160"/>
                  </a:lnTo>
                  <a:cubicBezTo>
                    <a:pt x="65532" y="1280160"/>
                    <a:pt x="0" y="1214628"/>
                    <a:pt x="0" y="1133856"/>
                  </a:cubicBezTo>
                  <a:close/>
                </a:path>
              </a:pathLst>
            </a:custGeom>
            <a:solidFill>
              <a:srgbClr val="13877C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629900" y="3566160"/>
            <a:ext cx="2948940" cy="960120"/>
            <a:chOff x="0" y="0"/>
            <a:chExt cx="3931920" cy="12801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9319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6" r="0" b="-984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393192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Oracle Cloud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927080" y="4827270"/>
            <a:ext cx="2354580" cy="198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C7D6E3"/>
                </a:solidFill>
                <a:latin typeface="Arial"/>
                <a:ea typeface="Arial"/>
                <a:cs typeface="Arial"/>
                <a:sym typeface="Arial"/>
              </a:rPr>
              <a:t>Base de datos en producción (ADBG07)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3853160" y="3154680"/>
            <a:ext cx="2948940" cy="3977640"/>
            <a:chOff x="0" y="0"/>
            <a:chExt cx="3931920" cy="5303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31920" cy="5303520"/>
            </a:xfrm>
            <a:custGeom>
              <a:avLst/>
              <a:gdLst/>
              <a:ahLst/>
              <a:cxnLst/>
              <a:rect r="r" b="b" t="t" l="l"/>
              <a:pathLst>
                <a:path h="5303520" w="3931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749040" y="0"/>
                  </a:lnTo>
                  <a:cubicBezTo>
                    <a:pt x="3850005" y="0"/>
                    <a:pt x="3931920" y="81915"/>
                    <a:pt x="3931920" y="182880"/>
                  </a:cubicBezTo>
                  <a:lnTo>
                    <a:pt x="3931920" y="5120640"/>
                  </a:lnTo>
                  <a:cubicBezTo>
                    <a:pt x="3931920" y="5221605"/>
                    <a:pt x="3850005" y="5303520"/>
                    <a:pt x="3749040" y="5303520"/>
                  </a:cubicBezTo>
                  <a:lnTo>
                    <a:pt x="182880" y="5303520"/>
                  </a:lnTo>
                  <a:cubicBezTo>
                    <a:pt x="81915" y="5303520"/>
                    <a:pt x="0" y="5221605"/>
                    <a:pt x="0" y="5120640"/>
                  </a:cubicBezTo>
                  <a:close/>
                </a:path>
              </a:pathLst>
            </a:custGeom>
            <a:solidFill>
              <a:srgbClr val="13314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333220" y="3566160"/>
            <a:ext cx="1988820" cy="960120"/>
            <a:chOff x="0" y="0"/>
            <a:chExt cx="2651760" cy="12801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6517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6517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505456" y="0"/>
                  </a:lnTo>
                  <a:cubicBezTo>
                    <a:pt x="2586228" y="0"/>
                    <a:pt x="2651760" y="65532"/>
                    <a:pt x="2651760" y="146304"/>
                  </a:cubicBezTo>
                  <a:lnTo>
                    <a:pt x="2651760" y="1133856"/>
                  </a:lnTo>
                  <a:cubicBezTo>
                    <a:pt x="2651760" y="1214628"/>
                    <a:pt x="2586228" y="1280160"/>
                    <a:pt x="2505456" y="1280160"/>
                  </a:cubicBezTo>
                  <a:lnTo>
                    <a:pt x="146304" y="1280160"/>
                  </a:lnTo>
                  <a:cubicBezTo>
                    <a:pt x="65532" y="1280160"/>
                    <a:pt x="0" y="1214628"/>
                    <a:pt x="0" y="1133856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853160" y="3566160"/>
            <a:ext cx="2948940" cy="960120"/>
            <a:chOff x="0" y="0"/>
            <a:chExt cx="3931920" cy="12801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9319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6" r="0" b="-984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393192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GitHub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4150340" y="4827270"/>
            <a:ext cx="2354580" cy="198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C7D6E3"/>
                </a:solidFill>
                <a:latin typeface="Arial"/>
                <a:ea typeface="Arial"/>
                <a:cs typeface="Arial"/>
                <a:sym typeface="Arial"/>
              </a:rPr>
              <a:t>Control de versiones del proyecto final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6322040" cy="1097280"/>
            <a:chOff x="0" y="0"/>
            <a:chExt cx="217627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76272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B25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Proyecto conductor: Hotel Budapest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714500"/>
            <a:ext cx="16322040" cy="685800"/>
            <a:chOff x="0" y="0"/>
            <a:chExt cx="2176272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743" r="0" b="-4137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D4C5C"/>
                  </a:solidFill>
                  <a:latin typeface="Arial"/>
                  <a:ea typeface="Arial"/>
                  <a:cs typeface="Arial"/>
                  <a:sym typeface="Arial"/>
                </a:rPr>
                <a:t>A lo largo del semestre construiremos una aplicación real.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8214" y="3279934"/>
            <a:ext cx="3041333" cy="1806892"/>
            <a:chOff x="0" y="0"/>
            <a:chExt cx="4055110" cy="24091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55110" cy="2409190"/>
            </a:xfrm>
            <a:custGeom>
              <a:avLst/>
              <a:gdLst/>
              <a:ahLst/>
              <a:cxnLst/>
              <a:rect r="r" b="b" t="t" l="l"/>
              <a:pathLst>
                <a:path h="2409190" w="4055110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3869817" y="0"/>
                  </a:lnTo>
                  <a:cubicBezTo>
                    <a:pt x="3972179" y="0"/>
                    <a:pt x="4055110" y="82931"/>
                    <a:pt x="4055110" y="185293"/>
                  </a:cubicBezTo>
                  <a:lnTo>
                    <a:pt x="4055110" y="2223897"/>
                  </a:lnTo>
                  <a:cubicBezTo>
                    <a:pt x="4055110" y="2326259"/>
                    <a:pt x="3972179" y="2409190"/>
                    <a:pt x="3869817" y="2409190"/>
                  </a:cubicBezTo>
                  <a:lnTo>
                    <a:pt x="185293" y="2409190"/>
                  </a:lnTo>
                  <a:cubicBezTo>
                    <a:pt x="82931" y="2409190"/>
                    <a:pt x="0" y="2326259"/>
                    <a:pt x="0" y="2223897"/>
                  </a:cubicBezTo>
                  <a:close/>
                </a:path>
              </a:pathLst>
            </a:custGeom>
            <a:solidFill>
              <a:srgbClr val="F4F7F8"/>
            </a:solidFill>
            <a:ln w="23812" cap="sq">
              <a:solidFill>
                <a:srgbClr val="13877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4212622" y="3279934"/>
            <a:ext cx="3041333" cy="1806892"/>
            <a:chOff x="0" y="0"/>
            <a:chExt cx="4055110" cy="24091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55110" cy="2409190"/>
            </a:xfrm>
            <a:custGeom>
              <a:avLst/>
              <a:gdLst/>
              <a:ahLst/>
              <a:cxnLst/>
              <a:rect r="r" b="b" t="t" l="l"/>
              <a:pathLst>
                <a:path h="2409190" w="4055110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3869817" y="0"/>
                  </a:lnTo>
                  <a:cubicBezTo>
                    <a:pt x="3972179" y="0"/>
                    <a:pt x="4055110" y="82931"/>
                    <a:pt x="4055110" y="185293"/>
                  </a:cubicBezTo>
                  <a:lnTo>
                    <a:pt x="4055110" y="2223897"/>
                  </a:lnTo>
                  <a:cubicBezTo>
                    <a:pt x="4055110" y="2326259"/>
                    <a:pt x="3972179" y="2409190"/>
                    <a:pt x="3869817" y="2409190"/>
                  </a:cubicBezTo>
                  <a:lnTo>
                    <a:pt x="185293" y="2409190"/>
                  </a:lnTo>
                  <a:cubicBezTo>
                    <a:pt x="82931" y="2409190"/>
                    <a:pt x="0" y="2326259"/>
                    <a:pt x="0" y="2223897"/>
                  </a:cubicBezTo>
                  <a:close/>
                </a:path>
              </a:pathLst>
            </a:custGeom>
            <a:solidFill>
              <a:srgbClr val="F4F7F8"/>
            </a:solidFill>
            <a:ln w="23812" cap="sq">
              <a:solidFill>
                <a:srgbClr val="13877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477030" y="3279934"/>
            <a:ext cx="3041333" cy="1806892"/>
            <a:chOff x="0" y="0"/>
            <a:chExt cx="4055110" cy="24091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55110" cy="2409190"/>
            </a:xfrm>
            <a:custGeom>
              <a:avLst/>
              <a:gdLst/>
              <a:ahLst/>
              <a:cxnLst/>
              <a:rect r="r" b="b" t="t" l="l"/>
              <a:pathLst>
                <a:path h="2409190" w="4055110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3869817" y="0"/>
                  </a:lnTo>
                  <a:cubicBezTo>
                    <a:pt x="3972179" y="0"/>
                    <a:pt x="4055110" y="82931"/>
                    <a:pt x="4055110" y="185293"/>
                  </a:cubicBezTo>
                  <a:lnTo>
                    <a:pt x="4055110" y="2223897"/>
                  </a:lnTo>
                  <a:cubicBezTo>
                    <a:pt x="4055110" y="2326259"/>
                    <a:pt x="3972179" y="2409190"/>
                    <a:pt x="3869817" y="2409190"/>
                  </a:cubicBezTo>
                  <a:lnTo>
                    <a:pt x="185293" y="2409190"/>
                  </a:lnTo>
                  <a:cubicBezTo>
                    <a:pt x="82931" y="2409190"/>
                    <a:pt x="0" y="2326259"/>
                    <a:pt x="0" y="2223897"/>
                  </a:cubicBezTo>
                  <a:close/>
                </a:path>
              </a:pathLst>
            </a:custGeom>
            <a:solidFill>
              <a:srgbClr val="F4F7F8"/>
            </a:solidFill>
            <a:ln w="23812" cap="sq">
              <a:solidFill>
                <a:srgbClr val="13877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741438" y="3279934"/>
            <a:ext cx="3041333" cy="1806892"/>
            <a:chOff x="0" y="0"/>
            <a:chExt cx="4055110" cy="2409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55110" cy="2409190"/>
            </a:xfrm>
            <a:custGeom>
              <a:avLst/>
              <a:gdLst/>
              <a:ahLst/>
              <a:cxnLst/>
              <a:rect r="r" b="b" t="t" l="l"/>
              <a:pathLst>
                <a:path h="2409190" w="4055110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3869817" y="0"/>
                  </a:lnTo>
                  <a:cubicBezTo>
                    <a:pt x="3972179" y="0"/>
                    <a:pt x="4055110" y="82931"/>
                    <a:pt x="4055110" y="185293"/>
                  </a:cubicBezTo>
                  <a:lnTo>
                    <a:pt x="4055110" y="2223897"/>
                  </a:lnTo>
                  <a:cubicBezTo>
                    <a:pt x="4055110" y="2326259"/>
                    <a:pt x="3972179" y="2409190"/>
                    <a:pt x="3869817" y="2409190"/>
                  </a:cubicBezTo>
                  <a:lnTo>
                    <a:pt x="185293" y="2409190"/>
                  </a:lnTo>
                  <a:cubicBezTo>
                    <a:pt x="82931" y="2409190"/>
                    <a:pt x="0" y="2326259"/>
                    <a:pt x="0" y="2223897"/>
                  </a:cubicBezTo>
                  <a:close/>
                </a:path>
              </a:pathLst>
            </a:custGeom>
            <a:solidFill>
              <a:srgbClr val="F4F7F8"/>
            </a:solidFill>
            <a:ln w="23812" cap="sq">
              <a:solidFill>
                <a:srgbClr val="13877C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4005846" y="3279934"/>
            <a:ext cx="3041333" cy="1806892"/>
            <a:chOff x="0" y="0"/>
            <a:chExt cx="4055110" cy="24091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55110" cy="2409190"/>
            </a:xfrm>
            <a:custGeom>
              <a:avLst/>
              <a:gdLst/>
              <a:ahLst/>
              <a:cxnLst/>
              <a:rect r="r" b="b" t="t" l="l"/>
              <a:pathLst>
                <a:path h="2409190" w="4055110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3869817" y="0"/>
                  </a:lnTo>
                  <a:cubicBezTo>
                    <a:pt x="3972179" y="0"/>
                    <a:pt x="4055110" y="82931"/>
                    <a:pt x="4055110" y="185293"/>
                  </a:cubicBezTo>
                  <a:lnTo>
                    <a:pt x="4055110" y="2223897"/>
                  </a:lnTo>
                  <a:cubicBezTo>
                    <a:pt x="4055110" y="2326259"/>
                    <a:pt x="3972179" y="2409190"/>
                    <a:pt x="3869817" y="2409190"/>
                  </a:cubicBezTo>
                  <a:lnTo>
                    <a:pt x="185293" y="2409190"/>
                  </a:lnTo>
                  <a:cubicBezTo>
                    <a:pt x="82931" y="2409190"/>
                    <a:pt x="0" y="2326259"/>
                    <a:pt x="0" y="2223897"/>
                  </a:cubicBezTo>
                  <a:close/>
                </a:path>
              </a:pathLst>
            </a:custGeom>
            <a:solidFill>
              <a:srgbClr val="F4F7F8"/>
            </a:solidFill>
            <a:ln w="23812" cap="sq">
              <a:solidFill>
                <a:srgbClr val="13877C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60120" y="5623560"/>
            <a:ext cx="16322040" cy="1783080"/>
            <a:chOff x="0" y="0"/>
            <a:chExt cx="21762720" cy="2377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627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363" r="0" b="-12836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1762720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D4C5C"/>
                  </a:solidFill>
                  <a:latin typeface="Arial"/>
                  <a:ea typeface="Arial"/>
                  <a:cs typeface="Arial"/>
                  <a:sym typeface="Arial"/>
                </a:rPr>
                <a:t>Cada tabla se va incorporando a medida que avanzan los retos: primero se consulta, luego se inserta, y al final se integra por completo en la aplicación Streamlit conectada a Oracle Cloud.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0120" y="7680960"/>
            <a:ext cx="16322040" cy="1508760"/>
            <a:chOff x="0" y="0"/>
            <a:chExt cx="21762720" cy="2011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627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7627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579839" y="0"/>
                  </a:lnTo>
                  <a:cubicBezTo>
                    <a:pt x="21680804" y="0"/>
                    <a:pt x="21762720" y="81915"/>
                    <a:pt x="21762720" y="182880"/>
                  </a:cubicBezTo>
                  <a:lnTo>
                    <a:pt x="21762720" y="1828800"/>
                  </a:lnTo>
                  <a:cubicBezTo>
                    <a:pt x="21762720" y="1929765"/>
                    <a:pt x="21680804" y="2011680"/>
                    <a:pt x="21579839" y="2011680"/>
                  </a:cubicBezTo>
                  <a:lnTo>
                    <a:pt x="182880" y="2011680"/>
                  </a:lnTo>
                  <a:cubicBezTo>
                    <a:pt x="81915" y="2011680"/>
                    <a:pt x="0" y="1929765"/>
                    <a:pt x="0" y="1828800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71600" y="7680960"/>
            <a:ext cx="15499080" cy="1508760"/>
            <a:chOff x="0" y="0"/>
            <a:chExt cx="20665440" cy="2011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665439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164" r="0" b="-15016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2066544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Meta final: una aplicación funcional, publicada en GitHub, que resuelve un problema real de negocio.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8960" y="-219456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13877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3840480"/>
            <a:ext cx="15773400" cy="1371600"/>
            <a:chOff x="0" y="0"/>
            <a:chExt cx="210312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03120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¿Preguntas?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DAHPZaPJ-hQ</dc:identifier>
  <dcterms:modified xsi:type="dcterms:W3CDTF">2011-08-01T06:04:30Z</dcterms:modified>
  <cp:revision>1</cp:revision>
  <dc:title>Presentación del curso</dc:title>
</cp:coreProperties>
</file>